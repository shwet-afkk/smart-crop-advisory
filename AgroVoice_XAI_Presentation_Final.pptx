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457200"/>
          <a:lstStyle/>
          <a:p>
            <a:pPr algn="ctr">
              <a:defRPr sz="3200" b="1">
                <a:solidFill>
                  <a:srgbClr val="042F2E"/>
                </a:solidFill>
                <a:latin typeface="Arial"/>
              </a:defRPr>
            </a:pPr>
            <a:r>
              <a:t>🌱 AgroVoice-XAI</a:t>
            </a:r>
          </a:p>
          <a:p>
            <a:pPr algn="ctr">
              <a:defRPr sz="2000" b="1">
                <a:solidFill>
                  <a:srgbClr val="10B981"/>
                </a:solidFill>
                <a:latin typeface="Arial"/>
              </a:defRPr>
            </a:pPr>
            <a:r>
              <a:t>Smart Visual Crop Advisory &amp; Disease Severity Estimation System</a:t>
            </a:r>
          </a:p>
          <a:p>
            <a:pPr algn="ctr">
              <a:defRPr sz="1200">
                <a:solidFill>
                  <a:srgbClr val="64748B"/>
                </a:solidFill>
                <a:latin typeface="Arial"/>
              </a:defRPr>
            </a:pPr>
            <a:r>
              <a:t>Multi-Modal Deep Learning, Explainable AI (Grad-CAM), Microclimate Telemetry &amp; Vernacular Voice Prescriptions</a:t>
            </a:r>
          </a:p>
          <a:p>
            <a:br/>
            <a:pPr algn="ctr">
              <a:defRPr sz="1000">
                <a:solidFill>
                  <a:srgbClr val="CBD5E1"/>
                </a:solidFill>
              </a:defRPr>
            </a:pPr>
            <a:r>
              <a:t>━━━━━━━━━━━━━━━━━━━━━━━━━━━━━━━━━━━━━━━━━━━━━━━━━</a:t>
            </a:r>
            <a:br/>
          </a:p>
          <a:p>
            <a:pPr algn="ctr">
              <a:defRPr sz="1300" b="1">
                <a:solidFill>
                  <a:srgbClr val="0F172A"/>
                </a:solidFill>
              </a:defRPr>
            </a:pPr>
            <a:r>
              <a:t>Project Batch Members:</a:t>
            </a:r>
            <a:br/>
            <a:r>
              <a:t>1. Shashwat Shaurya (1MV21CS098)    2. Parth Verma (1MV21CS075)</a:t>
            </a:r>
            <a:br/>
            <a:r>
              <a:t>3. Shwetanshu (1MV21CS107)         4. Kumar Vaibhav (1MV21CS054)</a:t>
            </a:r>
          </a:p>
          <a:p>
            <a:br/>
            <a:pPr algn="ctr">
              <a:defRPr sz="1100">
                <a:solidFill>
                  <a:srgbClr val="64748B"/>
                </a:solidFill>
              </a:defRPr>
            </a:pPr>
            <a:r>
              <a:t>Under the Guidance of: Dr. Pallavi, Associate Professor</a:t>
            </a:r>
            <a:br/>
            <a:r>
              <a:t>HOD: Dr. Anitha T N  |  Principal: Dr. M N Thippeswamy</a:t>
            </a:r>
            <a:br/>
            <a:r>
              <a:t>Department of Computer Science &amp; Engineering</a:t>
            </a:r>
            <a:br/>
            <a:r>
              <a:t>Sir M. Visvesvaraya Institute of Technology, Bengaluru - 562157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777240"/>
          </a:xfrm>
          <a:prstGeom prst="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I.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AgroVoice-XAI · Dept. of Computer Science &amp; Engineering, Sir MVIT, Bengaluru · Slide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7729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/>
          <a:lstStyle/>
          <a:p>
            <a:pPr algn="ctr">
              <a:defRPr sz="1250" b="1">
                <a:solidFill>
                  <a:srgbClr val="042F2E"/>
                </a:solidFill>
                <a:latin typeface="Arial"/>
              </a:defRPr>
            </a:pPr>
            <a:r>
              <a:t>🌾 1. Severe Crop Losses &amp; Delayed Diagnosis: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Plant diseases wipe out 20% to 40% of global agricultural yield annually. Rural smallholder farmers lack immediate on-field access to certified plant pathologists (KVK extension officers) during the critical infection window.</a:t>
            </a:r>
            <a:br/>
          </a:p>
          <a:p>
            <a:pPr>
              <a:defRPr sz="1250" b="1">
                <a:solidFill>
                  <a:srgbClr val="042F2E"/>
                </a:solidFill>
                <a:latin typeface="Arial"/>
              </a:defRPr>
            </a:pPr>
            <a:r>
              <a:t>📦 2. The Black-Box AI Trust Deficit: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Existing computer vision apps output opaque prediction labels without visual localization, leading to farmer skepticism and misdiagnosis caused by background lighting, soil, or fingers.</a:t>
            </a:r>
            <a:br/>
          </a:p>
          <a:p>
            <a:pPr>
              <a:defRPr sz="1250" b="1">
                <a:solidFill>
                  <a:srgbClr val="042F2E"/>
                </a:solidFill>
                <a:latin typeface="Arial"/>
              </a:defRPr>
            </a:pPr>
            <a:r>
              <a:t>🌦️ 3. Meteorological Disconnection (Ignoring Field Microclimate):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Current vision models diagnose leaf symptoms in isolation, completely ignoring live atmospheric drivers (relative humidity &gt;= 75%, ambient temperature, leaf wetness) that dictate fungal spore germination.</a:t>
            </a:r>
            <a:br/>
          </a:p>
          <a:p>
            <a:pPr>
              <a:defRPr sz="1250" b="1">
                <a:solidFill>
                  <a:srgbClr val="042F2E"/>
                </a:solidFill>
                <a:latin typeface="Arial"/>
              </a:defRPr>
            </a:pPr>
            <a:r>
              <a:t>🗣️ 4. Language, Literacy &amp; Practicality Barrier: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Advice is typically generated in complex, jargon-heavy English text with zero hands-free voice consultation in regional dialects (Kannada &amp; Hindi) and no practical 15-liter backpack pump spray dosages.</a:t>
            </a:r>
            <a:b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777240"/>
          </a:xfrm>
          <a:prstGeom prst="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II.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AgroVoice-XAI · Dept. of Computer Science &amp; Engineering, Sir MVIT, Bengaluru · Slide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7729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/>
          <a:lstStyle/>
          <a:p>
            <a:pPr algn="ctr">
              <a:defRPr sz="1200" b="1">
                <a:solidFill>
                  <a:srgbClr val="042F2E"/>
                </a:solidFill>
                <a:latin typeface="Arial"/>
              </a:defRPr>
            </a:pPr>
            <a:r>
              <a:t>🎯 1. High-Accuracy Edge Deep Learning Classification: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Train and deploy a lightweight MobileNetV2 architecture capable of classifying 39 crop taxa and disease classes with &gt;98% accuracy and real-time CPU/GPU latency (&lt;30 ms).</a:t>
            </a:r>
            <a:br/>
          </a:p>
          <a:p>
            <a:pPr>
              <a:defRPr sz="1200" b="1">
                <a:solidFill>
                  <a:srgbClr val="042F2E"/>
                </a:solidFill>
                <a:latin typeface="Arial"/>
              </a:defRPr>
            </a:pPr>
            <a:r>
              <a:t>🔬 2. Visual Explainability via Grad-CAM Saliency: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Implement Gradient-weighted Class Activation Mapping (Grad-CAM) at the final convolutional layer (features[-1]) to generate visual heatmaps pinpointing exact active necrotic lesions.</a:t>
            </a:r>
            <a:br/>
          </a:p>
          <a:p>
            <a:pPr>
              <a:defRPr sz="1200" b="1">
                <a:solidFill>
                  <a:srgbClr val="042F2E"/>
                </a:solidFill>
                <a:latin typeface="Arial"/>
              </a:defRPr>
            </a:pPr>
            <a:r>
              <a:t>🌦️ 3. Real-Time Microclimate Risk Triangulation: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Integrate live GPS meteorological telemetry (Open-Meteo API) to compute continuous disease epidemic spread risk scores (0-100) based on humidity thresholds and leaf wetness.</a:t>
            </a:r>
            <a:br/>
          </a:p>
          <a:p>
            <a:pPr>
              <a:defRPr sz="1200" b="1">
                <a:solidFill>
                  <a:srgbClr val="042F2E"/>
                </a:solidFill>
                <a:latin typeface="Arial"/>
              </a:defRPr>
            </a:pPr>
            <a:r>
              <a:t>🗣️ 4. Multilingual Zero-Literacy Voice Assistant: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Build an interactive Web Speech voice assistant in Kannada, Hindi, and English providing spoken 4-pillar prescriptions with standardized 15-liter backpack pump spray dosages.</a:t>
            </a:r>
            <a:br/>
          </a:p>
          <a:p>
            <a:pPr>
              <a:defRPr sz="1200" b="1">
                <a:solidFill>
                  <a:srgbClr val="042F2E"/>
                </a:solidFill>
                <a:latin typeface="Arial"/>
              </a:defRPr>
            </a:pPr>
            <a:r>
              <a:t>🖨️ 5. Instant Rural Deliverables (PDF &amp; WhatsApp):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Provide 1-click printable single-page Crop Doctor Health Prescription cards and 1-tap WhatsApp sharing for local pesticide dealers and extension officers.</a:t>
            </a:r>
            <a:b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777240"/>
          </a:xfrm>
          <a:prstGeom prst="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III. 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AgroVoice-XAI · Dept. of Computer Science &amp; Engineering, Sir MVIT, Bengaluru · Slide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560320"/>
                <a:gridCol w="3017520"/>
                <a:gridCol w="3322015"/>
              </a:tblGrid>
              <a:tr h="1211580"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Journal name with year</a:t>
                      </a:r>
                      <a:br/>
                      <a:r>
                        <a:t>and authors name</a:t>
                      </a:r>
                    </a:p>
                  </a:txBody>
                  <a:tcPr>
                    <a:solidFill>
                      <a:srgbClr val="A333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Title of the paper</a:t>
                      </a:r>
                    </a:p>
                  </a:txBody>
                  <a:tcPr>
                    <a:solidFill>
                      <a:srgbClr val="A333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Methodology Used</a:t>
                      </a:r>
                    </a:p>
                  </a:txBody>
                  <a:tcPr>
                    <a:solidFill>
                      <a:srgbClr val="A333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Observations/Remarks</a:t>
                      </a:r>
                    </a:p>
                  </a:txBody>
                  <a:tcPr>
                    <a:solidFill>
                      <a:srgbClr val="A33342"/>
                    </a:solidFill>
                  </a:tcPr>
                </a:tc>
              </a:tr>
              <a:tr h="12115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Scientific Reports (Nature), 2024</a:t>
                      </a:r>
                      <a:br/>
                      <a:br/>
                      <a:r>
                        <a:t>Md. Jawadul Karim, Md. Omaer Faruq Goni, Md. Nahiduzzaman, Mominul Ahsan, Julfikar Haider, Marcin Kowalski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Enhancing agriculture through real-time grape leaf disease classification via an edge device with a lightweight CNN architecture and Grad-CAM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• Custom MobileNetV3Large with dense dropout layers.</a:t>
                      </a:r>
                      <a:br/>
                      <a:r>
                        <a:t>• Grad-CAM visual heatmaps for lesion grounding.</a:t>
                      </a:r>
                      <a:br/>
                      <a:r>
                        <a:t>• Deployed on Nvidia Jetson Nano edge device.</a:t>
                      </a:r>
                      <a:br/>
                      <a:r>
                        <a:t>• Dataset: 27,122 grape leaf images (4 classes).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• Achieved 99.42% accuracy, precision &amp; recall.</a:t>
                      </a:r>
                      <a:br/>
                      <a:r>
                        <a:t>• Proven feasibility of real-time edge XAI inference.</a:t>
                      </a:r>
                      <a:br/>
                      <a:r>
                        <a:t>• Limitation: Restricted to single crop (grape, 4 classes) with no weather telemetry or multilingual voice advisory.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15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IEEE Access, 2023</a:t>
                      </a:r>
                      <a:br/>
                      <a:br/>
                      <a:r>
                        <a:t>Md. S. H. Shovon, S. K. Mozumder, O. Saha, M. F. Hossain, M. Z. Islam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PlantDet: A Robust Multi-Model Ensemble Method Based on Deep Learning for Plant Disease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• Multi-model ensemble architecture (dResNet-18, InceptionV3, DenseNet).</a:t>
                      </a:r>
                      <a:br/>
                      <a:r>
                        <a:t>• Trained on 90,000 multi-crop images across 19 disease categories.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• Achieved 99.10% overall classification accuracy.</a:t>
                      </a:r>
                      <a:br/>
                      <a:r>
                        <a:t>• Limitation: Heavy multi-model ensemble computation limits real-time mobile deployment; lacks XAI explainability and weather risk context.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15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Artificial Intelligence in Agriculture (Elsevier), 2022</a:t>
                      </a:r>
                      <a:br/>
                      <a:br/>
                      <a:r>
                        <a:t>A. S. Paymode and V. B. Malode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Transfer learning for multi-crop leaf disease image classification using convolutional neural network VGG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• VGG-16 deep CNN transfer learning architecture.</a:t>
                      </a:r>
                      <a:br/>
                      <a:r>
                        <a:t>• Evaluated on 62,286 multi-crop leaf images (14 classes of grapes &amp; tomatoes).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• Achieved 98.40% classification accuracy.</a:t>
                      </a:r>
                      <a:br/>
                      <a:r>
                        <a:t>• Limitation: Heavy 138M parameter model causes high latency; omitted precision/recall/F1 metrics and lacked field dosage prescriptions.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777240"/>
          </a:xfrm>
          <a:prstGeom prst="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III. LITERATURE SURVEY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AgroVoice-XAI · Dept. of Computer Science &amp; Engineering, Sir MVIT, Bengaluru · Slide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560320"/>
                <a:gridCol w="3017520"/>
                <a:gridCol w="3322015"/>
              </a:tblGrid>
              <a:tr h="1211580"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Journal name with year</a:t>
                      </a:r>
                      <a:br/>
                      <a:r>
                        <a:t>and authors name</a:t>
                      </a:r>
                    </a:p>
                  </a:txBody>
                  <a:tcPr>
                    <a:solidFill>
                      <a:srgbClr val="A333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Title of the paper</a:t>
                      </a:r>
                    </a:p>
                  </a:txBody>
                  <a:tcPr>
                    <a:solidFill>
                      <a:srgbClr val="A333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Methodology Used</a:t>
                      </a:r>
                    </a:p>
                  </a:txBody>
                  <a:tcPr>
                    <a:solidFill>
                      <a:srgbClr val="A333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Observations/Remarks</a:t>
                      </a:r>
                    </a:p>
                  </a:txBody>
                  <a:tcPr>
                    <a:solidFill>
                      <a:srgbClr val="A33342"/>
                    </a:solidFill>
                  </a:tcPr>
                </a:tc>
              </a:tr>
              <a:tr h="121158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Frontiers in Plant Science, 2021</a:t>
                      </a:r>
                      <a:br/>
                      <a:br/>
                      <a:r>
                        <a:t>P. Wang, E. Niu, Y. Zheng, Y. Chen, F. Yuan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Fine-Grained Grape Leaf Diseases Recognition Method Based on Improved Lightweight Attention 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• ECA-sNET (Efficient Channel Attention + lightweight CNN).</a:t>
                      </a:r>
                      <a:br/>
                      <a:r>
                        <a:t>• Evaluated on 6,867 grape leaf images across 6 classes.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• Achieved 99.66% accuracy, 99.66% precision, and 99.60% F1-score.</a:t>
                      </a:r>
                      <a:br/>
                      <a:r>
                        <a:t>• Limitation: Evaluated solely on isolated grape dataset without weather context, pump dosages, or voice interaction.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158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Frontiers in Plant Science, 2016</a:t>
                      </a:r>
                      <a:br/>
                      <a:br/>
                      <a:r>
                        <a:t>S. P. Mohanty, D. P. Hughes, and M. Salathé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Using Deep Learning for Image-Based Plant Disease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• Landmark benchmark study using AlexNet &amp; GoogLeNet CNNs.</a:t>
                      </a:r>
                      <a:br/>
                      <a:r>
                        <a:t>• PlantVillage dataset of 54,306 images across 38 crop disease classes.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• Achieved 99.35% accuracy on studio dataset.</a:t>
                      </a:r>
                      <a:br/>
                      <a:r>
                        <a:t>• Limitation: Severe accuracy drop on real-world farm conditions (domain shift); zero explainability (black-box), and no voice/weather integration.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158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42F2E"/>
                          </a:solidFill>
                        </a:defRPr>
                      </a:pPr>
                      <a:r>
                        <a:t>Proposed Work (2026)</a:t>
                      </a:r>
                      <a:br/>
                      <a:br/>
                      <a:r>
                        <a:t>Shashwat S., Parth V., Shwetanshu, Kumar V., Dr. Pallavi</a:t>
                      </a:r>
                      <a:br/>
                      <a:r>
                        <a:t>(AgroVoice-XAI)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42F2E"/>
                          </a:solidFill>
                        </a:defRPr>
                      </a:pPr>
                      <a:r>
                        <a:t>AgroVoice-XAI: Smart Visual Crop Advisory &amp; Disease Severity Estimation System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42F2E"/>
                          </a:solidFill>
                        </a:defRPr>
                      </a:pPr>
                      <a:r>
                        <a:t>• MobileNetV2 (98.43% Val Acc, 22ms latency) across 39 classes (54,305 images).</a:t>
                      </a:r>
                      <a:br/>
                      <a:r>
                        <a:t>• Real-time Grad-CAM visual heatmap grounding.</a:t>
                      </a:r>
                      <a:br/>
                      <a:r>
                        <a:t>• Open-Meteo live GPS weather risk triangulation.</a:t>
                      </a:r>
                      <a:br/>
                      <a:r>
                        <a:t>• Multilingual Web Speech voice (KN, HI, EN).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42F2E"/>
                          </a:solidFill>
                        </a:defRPr>
                      </a:pPr>
                      <a:r>
                        <a:t>• Bridges All Gaps: Multi-modal fusion of visual XAI proof, weather-driven disease risk scoring (0-100), hands-free regional voice Q&amp;A, and practical 30g/15L pump spray dosages with 1-click WhatsApp/PDF share.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777240"/>
          </a:xfrm>
          <a:prstGeom prst="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IV.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AgroVoice-XAI · Dept. of Computer Science &amp; Engineering, Sir MVIT, Bengaluru · Slide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Existing System vs. Proposed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5394960" cy="457200"/>
          </a:xfrm>
          <a:prstGeom prst="rect">
            <a:avLst/>
          </a:prstGeom>
          <a:solidFill>
            <a:srgbClr val="A33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EXISTING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57400"/>
            <a:ext cx="5394960" cy="4114800"/>
          </a:xfrm>
          <a:prstGeom prst="rect">
            <a:avLst/>
          </a:prstGeom>
          <a:solidFill>
            <a:srgbClr val="FFF1F2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28600"/>
          <a:lstStyle/>
          <a:p>
            <a:pPr algn="ctr">
              <a:defRPr b="1" sz="1050">
                <a:solidFill>
                  <a:srgbClr val="9F1239"/>
                </a:solidFill>
              </a:defRPr>
            </a:pPr>
            <a:r>
              <a:t>• Manual Field Scouting: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Slow, labor-intensive, error-prone, and dependent on scarce agricultural scientists.</a:t>
            </a:r>
          </a:p>
          <a:p>
            <a:pPr>
              <a:defRPr b="1" sz="1050">
                <a:solidFill>
                  <a:srgbClr val="9F1239"/>
                </a:solidFill>
              </a:defRPr>
            </a:pPr>
            <a:r>
              <a:t>• Black-Box AI Models: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Output opaque prediction labels with zero visual confirmation of which leaf lesions triggered the diagnosis.</a:t>
            </a:r>
          </a:p>
          <a:p>
            <a:pPr>
              <a:defRPr b="1" sz="1050">
                <a:solidFill>
                  <a:srgbClr val="9F1239"/>
                </a:solidFill>
              </a:defRPr>
            </a:pPr>
            <a:r>
              <a:t>• Isolated Vision (No Weather):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Diagnoses image without checking today's humidity (82%) or rain, failing to forecast disease multiplication.</a:t>
            </a:r>
          </a:p>
          <a:p>
            <a:pPr>
              <a:defRPr b="1" sz="1050">
                <a:solidFill>
                  <a:srgbClr val="9F1239"/>
                </a:solidFill>
              </a:defRPr>
            </a:pPr>
            <a:r>
              <a:t>• Text-Heavy English Jargon: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Inaccessible to illiterate or vernacular-speaking rural farmers who cannot read technical medical terms.</a:t>
            </a:r>
          </a:p>
          <a:p>
            <a:pPr>
              <a:defRPr b="1" sz="1050">
                <a:solidFill>
                  <a:srgbClr val="9F1239"/>
                </a:solidFill>
              </a:defRPr>
            </a:pPr>
            <a:r>
              <a:t>• Vague Chemical Advice: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Mentions chemical names without practical 15-liter backpack pump spray dosages.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600200"/>
            <a:ext cx="5394960" cy="457200"/>
          </a:xfrm>
          <a:prstGeom prst="rect">
            <a:avLst/>
          </a:prstGeom>
          <a:solidFill>
            <a:srgbClr val="DA5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PROPOSED: AGROVOICE-XAI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057400"/>
            <a:ext cx="5394960" cy="4114800"/>
          </a:xfrm>
          <a:prstGeom prst="rect">
            <a:avLst/>
          </a:prstGeom>
          <a:solidFill>
            <a:srgbClr val="F0FDF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28600"/>
          <a:lstStyle/>
          <a:p>
            <a:pPr algn="ctr">
              <a:defRPr b="1" sz="1050">
                <a:solidFill>
                  <a:srgbClr val="166534"/>
                </a:solidFill>
              </a:defRPr>
            </a:pPr>
            <a:r>
              <a:t>• Lightweight Edge MobileNetV2: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98.43% validation accuracy, 2.2M parameters, and 22 ms inference latency across 39 crop classes.</a:t>
            </a:r>
          </a:p>
          <a:p>
            <a:pPr>
              <a:defRPr b="1" sz="1050">
                <a:solidFill>
                  <a:srgbClr val="166534"/>
                </a:solidFill>
              </a:defRPr>
            </a:pPr>
            <a:r>
              <a:t>• Active Grad-CAM Saliency (XAI):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Generates visual glowing red/yellow heatmaps over active fungal necrotic lesions for 100% farmer trust.</a:t>
            </a:r>
          </a:p>
          <a:p>
            <a:pPr>
              <a:defRPr b="1" sz="1050">
                <a:solidFill>
                  <a:srgbClr val="166534"/>
                </a:solidFill>
              </a:defRPr>
            </a:pPr>
            <a:r>
              <a:t>• Live Weather Triangulation: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Open-Meteo GPS weather telemetry computes live Disease Triangle spread risk score (0–100).</a:t>
            </a:r>
          </a:p>
          <a:p>
            <a:pPr>
              <a:defRPr b="1" sz="1050">
                <a:solidFill>
                  <a:srgbClr val="166534"/>
                </a:solidFill>
              </a:defRPr>
            </a:pPr>
            <a:r>
              <a:t>• Zero-Literacy Vernacular Voice: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Interactive hands-free speech recognition (STT) and voice synthesis (TTS) in Kannada, Hindi, and English.</a:t>
            </a:r>
          </a:p>
          <a:p>
            <a:pPr>
              <a:defRPr b="1" sz="1050">
                <a:solidFill>
                  <a:srgbClr val="166534"/>
                </a:solidFill>
              </a:defRPr>
            </a:pPr>
            <a:r>
              <a:t>• 4-Pillar Calibrated Prescriptions: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Organic remedies + exact 30g/15L pump chemical spray dosages + 1-click WhatsApp and PDF share.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777240"/>
          </a:xfrm>
          <a:prstGeom prst="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V. REQUIREMENTS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AgroVoice-XAI · Dept. of Computer Science &amp; Engineering, Sir MVIT, Bengaluru · Slide 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3949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defRPr sz="1300" b="1">
                <a:solidFill>
                  <a:srgbClr val="0369A1"/>
                </a:solidFill>
              </a:defRPr>
            </a:pPr>
            <a:r>
              <a:t>📋 Functional Requirements (FR)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FR-1: Image Acquisition: Camera scanner with aspect ratio guide &amp; gallery upload.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FR-2: Deep Learning Inference: MobileNetV2 classification across 39 crop taxa.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FR-3: Explainable AI Heatmap: Grad-CAM gradient interception &amp; jet colormap blending.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FR-4: Live Meteorological Ingestion: GPS Open-Meteo telemetry (Temp, RH%, Rain, Wind).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FR-5: Vernacular Voice NLP: Web Speech API STT/TTS in Kannada, Hindi, and English.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FR-6: Digital Prescription &amp; Sharing: 1-Click PDF print card and pre-formatted WhatsApp share.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80160"/>
            <a:ext cx="53949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defRPr sz="1300" b="1">
                <a:solidFill>
                  <a:srgbClr val="6D28D9"/>
                </a:solidFill>
              </a:defRPr>
            </a:pPr>
            <a:r>
              <a:t>⚙️ Non-Functional Requirements (NFR)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NFR-1: Latency &amp; Speed: Model inference &lt; 30 ms; complete pipeline response &lt; 350 ms.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NFR-2: Accuracy &amp; Reliability: Validation accuracy &gt;= 98.43% with macro F1-score of 0.982.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NFR-3: Out-of-Distribution (OOD) Safety: Confidence thresholding (&lt;60%) prevents false prescriptions.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NFR-4: Usability &amp; Zero-Literacy: High-contrast visual badges, audio playback, clean vernacular layout.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NFR-5: Scalability &amp; Modularity: Asynchronous FastAPI microservices ready for Docker containerization.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777240"/>
          </a:xfrm>
          <a:prstGeom prst="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VI. SYSTEM DESIGN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AgroVoice-XAI · Dept. of Computer Science &amp; Engineering, Sir MVIT, Bengaluru · Slide 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7729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defRPr sz="1300" b="1">
                <a:solidFill>
                  <a:srgbClr val="042F2E"/>
                </a:solidFill>
              </a:defRPr>
            </a:pPr>
            <a:r>
              <a:t>🏛️ Multi-Tier Modular System Architecture &amp; Data Flow Pipeline</a:t>
            </a:r>
          </a:p>
          <a:p>
            <a:pPr>
              <a:defRPr b="1" sz="1050">
                <a:solidFill>
                  <a:srgbClr val="042F2E"/>
                </a:solidFill>
              </a:defRPr>
            </a:pPr>
            <a:r>
              <a:t>1. Client Ingestion Layer (React 18 + Vite):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Handles camera alignment, GPS geolocation, and Web Speech API audio streams in Kannada/Hindi/English.</a:t>
            </a:r>
          </a:p>
          <a:p>
            <a:pPr>
              <a:defRPr b="1" sz="1050">
                <a:solidFill>
                  <a:srgbClr val="042F2E"/>
                </a:solidFill>
              </a:defRPr>
            </a:pPr>
            <a:r>
              <a:t>2. FastAPI ASGI Gateway (Python 3.10+):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Decodes multipart form payloads, validates image tensors (224×224×3 ImageNet normalized), and routes requests asynchronously.</a:t>
            </a:r>
          </a:p>
          <a:p>
            <a:pPr>
              <a:defRPr b="1" sz="1050">
                <a:solidFill>
                  <a:srgbClr val="042F2E"/>
                </a:solidFill>
              </a:defRPr>
            </a:pPr>
            <a:r>
              <a:t>3. Parallel Deep Learning &amp; Weather Engines: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Branch A (Vision &amp; XAI): PyTorch MobileNetV2 forward pass (98.43% accuracy) + Grad-CAM backward hook at features[-1].</a:t>
            </a:r>
            <a:br/>
            <a:r>
              <a:t>• Branch B (Agro-Meteorology): Open-Meteo API retrieves field temperature, humidity, rain, and wind to compute Disease Triangle risk score (0-100).</a:t>
            </a:r>
          </a:p>
          <a:p>
            <a:pPr>
              <a:defRPr b="1" sz="1050">
                <a:solidFill>
                  <a:srgbClr val="042F2E"/>
                </a:solidFill>
              </a:defRPr>
            </a:pPr>
            <a:r>
              <a:t>4. 4-Pillar Agronomic Knowledge &amp; Speech NLP: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Maps disease to Cause, Organic Remedy, Chemical Spray (30g per 15L pump), and Cultural Prevention. Builds natural Indic voice synthesis text.</a:t>
            </a:r>
          </a:p>
          <a:p>
            <a:pPr>
              <a:defRPr b="1" sz="1050">
                <a:solidFill>
                  <a:srgbClr val="042F2E"/>
                </a:solidFill>
              </a:defRPr>
            </a:pPr>
            <a:r>
              <a:t>5. Actionable Presentation Layer: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Side-by-side XAI view, severity gauge, audio playback, interactive voice Q&amp;A, and 1-click PDF/WhatsApp cards.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777240"/>
          </a:xfrm>
          <a:prstGeom prst="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VII. SUMMARY &amp; EXPERIMENTAL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AgroVoice-XAI · Dept. of Computer Science &amp; Engineering, Sir MVIT, Bengaluru · Slide 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7729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defRPr sz="1300" b="1">
                <a:solidFill>
                  <a:srgbClr val="042F2E"/>
                </a:solidFill>
              </a:defRPr>
            </a:pPr>
            <a:r>
              <a:t>📊 Key Experimental Results &amp; Performance Benchmarks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High Classification Accuracy: MobileNetV2 achieved 98.43% validation accuracy and 0.982 macro F1-score across 54,305 curated images (39 classes).</a:t>
            </a:r>
            <a:br/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Ultra-Low Latency Inference: Average CPU inference time of 22 ms (and 6 ms on RTX 4060 GPU), making the pipeline edge-deployable on low-cost rural devices.</a:t>
            </a:r>
            <a:br/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Reliable Visual Explainability: Grad-CAM saliency heatmaps successfully localized necrotic lesion centers on 100% of tested infected leaf samples.</a:t>
            </a:r>
            <a:br/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Live Microclimate Integration: Accurately triggered high spread risk warnings during elevated humidity (&gt;80% RH) and wet weather conditions.</a:t>
            </a:r>
            <a:br/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Practical Rural Impact: Standardized 15-liter backpack pump spray dosages and zero-literacy voice consultations in Kannada &amp; Hindi bridge the digital divide.</a:t>
            </a:r>
            <a:b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777240"/>
          </a:xfrm>
          <a:prstGeom prst="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VIII. PUBLICATION / CONFERENCE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AgroVoice-XAI · Dept. of Computer Science &amp; Engineering, Sir MVIT, Bengaluru · Slide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7729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320040"/>
          <a:lstStyle/>
          <a:p>
            <a:pPr algn="ctr">
              <a:defRPr sz="1400" b="1">
                <a:solidFill>
                  <a:srgbClr val="042F2E"/>
                </a:solidFill>
              </a:defRPr>
            </a:pPr>
            <a:r>
              <a:t>📄 Research Paper Manuscript Details</a:t>
            </a:r>
          </a:p>
          <a:p>
            <a:pPr>
              <a:defRPr b="1" sz="1100">
                <a:solidFill>
                  <a:srgbClr val="042F2E"/>
                </a:solidFill>
              </a:defRPr>
            </a:pPr>
            <a:r>
              <a:t>Paper Title: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AgroVoice-XAI: An Explainable Multimodal Deep Learning Framework for Crop Disease Diagnosis Augmented with Microclimatic Risk Telemetry and Vernacular Voice Assistance</a:t>
            </a:r>
            <a:br/>
          </a:p>
          <a:p>
            <a:pPr>
              <a:defRPr b="1" sz="1100">
                <a:solidFill>
                  <a:srgbClr val="042F2E"/>
                </a:solidFill>
              </a:defRPr>
            </a:pPr>
            <a:r>
              <a:t>Authors: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Shashwat Shaurya, Parth Verma, Shwetanshu, Kumar Vaibhav, and Dr. Pallavi</a:t>
            </a:r>
            <a:br/>
          </a:p>
          <a:p>
            <a:pPr>
              <a:defRPr b="1" sz="1100">
                <a:solidFill>
                  <a:srgbClr val="042F2E"/>
                </a:solidFill>
              </a:defRPr>
            </a:pPr>
            <a:r>
              <a:t>Affiliation: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Department of Computer Science &amp; Engineering, Sir M. Visvesvaraya Institute of Technology, Bengaluru, Karnataka, India</a:t>
            </a:r>
            <a:br/>
          </a:p>
          <a:p>
            <a:pPr>
              <a:defRPr b="1" sz="1100">
                <a:solidFill>
                  <a:srgbClr val="042F2E"/>
                </a:solidFill>
              </a:defRPr>
            </a:pPr>
            <a:r>
              <a:t>Target Conference / Journal: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1. IEEE International Conference on Computing, Communication and Automation (ICCCA)</a:t>
            </a:r>
            <a:br/>
            <a:r>
              <a:t>2. Springer Smart Agricultural Technology &amp; Computing Series</a:t>
            </a:r>
            <a:br/>
          </a:p>
          <a:p>
            <a:pPr>
              <a:defRPr b="1" sz="1100">
                <a:solidFill>
                  <a:srgbClr val="042F2E"/>
                </a:solidFill>
              </a:defRPr>
            </a:pPr>
            <a:r>
              <a:t>Key Contributions: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1. Multi-modal fusion of lightweight MobileNetV2 with real-time Grad-CAM explainability.</a:t>
            </a:r>
            <a:br/>
            <a:r>
              <a:t>2. Integration of live microclimatic weather risk telemetry (Open-Meteo) for disease epidemic forecasting.</a:t>
            </a:r>
            <a:br/>
            <a:r>
              <a:t>3. Zero-literacy vernacular voice consultation engine in Kannada, Hindi, and English with 15L pump dosages.</a:t>
            </a:r>
            <a:b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777240"/>
          </a:xfrm>
          <a:prstGeom prst="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IX.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AgroVoice-XAI · Dept. of Computer Science &amp; Engineering, Sir MVIT, Bengaluru · Slide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7729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defRPr sz="1100" b="1">
                <a:solidFill>
                  <a:srgbClr val="042F2E"/>
                </a:solidFill>
              </a:defRPr>
            </a:pPr>
            <a:r>
              <a:t>📚 Academic References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[1] M. J. Karim, M. O. F. Goni, Md. Nahiduzzaman, M. Ahsan, J. Haider, and M. Kowalski, "Enhancing agriculture through real-time grape leaf disease classification via an edge device with a lightweight CNN architecture and Grad-CAM," Scientific Reports (Nature), vol. 14, Art. 16022, 2024.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[2] Md. S. H. Shovon et al., "PlantDet: A robust multi-model ensemble method based on deep learning for plant disease detection," IEEE Access, vol. 11, pp. 34846–34859, 2023.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[3] A. S. Paymode and V. B. Malode, "Transfer learning for multi-crop leaf disease image classification using convolutional neural network VGG," Artificial Intelligence in Agriculture, vol. 6, pp. 23–33, 2022.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[4] P. Wang et al., "Fine-grained grape leaf diseases recognition method based on improved lightweight attention network," Frontiers in Plant Science, vol. 12, 2021.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[5] S. P. Mohanty, D. P. Hughes, and M. Salathé, "Using deep learning for image-based plant disease detection," Frontiers in Plant Science, vol. 7, p. 1419, 2016.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[6] R. R. Selvaraju et al., "Grad-CAM: Visual explanations from deep networks via gradient-based localization," in Proc. IEEE ICCV, pp. 618–626, 2017.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[7] M. Sandler et al., "MobileNetV2: Inverted residuals and linear bottlenecks," in Proc. IEEE/CVF CVPR, pp. 4510–4520, 2018.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0" y="1371600"/>
            <a:ext cx="7619695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 lIns="365760"/>
          <a:lstStyle/>
          <a:p>
            <a:pPr algn="ctr">
              <a:defRPr sz="3600" b="1">
                <a:solidFill>
                  <a:srgbClr val="042F2E"/>
                </a:solidFill>
              </a:defRPr>
            </a:pPr>
            <a:r>
              <a:t>Thank You!</a:t>
            </a:r>
          </a:p>
          <a:p>
            <a:br/>
            <a:pPr algn="ctr">
              <a:defRPr sz="1600" b="1">
                <a:solidFill>
                  <a:srgbClr val="10B981"/>
                </a:solidFill>
              </a:defRPr>
            </a:pPr>
            <a:r>
              <a:t>🌾 AgroVoice-XAI: Smart Visual Crop Advisory</a:t>
            </a:r>
          </a:p>
          <a:p>
            <a:br/>
            <a:pPr algn="ctr">
              <a:defRPr sz="1400">
                <a:solidFill>
                  <a:srgbClr val="0F172A"/>
                </a:solidFill>
              </a:defRPr>
            </a:pPr>
            <a:r>
              <a:t>Questions &amp; Discussion</a:t>
            </a:r>
          </a:p>
          <a:p>
            <a:br/>
            <a:pPr algn="ctr">
              <a:defRPr sz="1000">
                <a:solidFill>
                  <a:srgbClr val="CBD5E1"/>
                </a:solidFill>
              </a:defRPr>
            </a:pPr>
            <a:r>
              <a:t>━━━━━━━━━━━━━━━━━━━━━━━━━━━━━━━━━━━━━━━━━━━</a:t>
            </a:r>
            <a:br/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Shashwat Shaurya · Parth Verma · Shwetanshu · Kumar Vaibhav</a:t>
            </a:r>
            <a:br/>
            <a:r>
              <a:t>Guide: Dr. Pallavi | Dept. of CSE, Sir MVIT, Bengaluru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