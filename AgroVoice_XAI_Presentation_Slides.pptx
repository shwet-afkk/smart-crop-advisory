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/>
          <a:lstStyle/>
          <a:p>
            <a:pPr algn="ctr">
              <a:defRPr sz="3200" b="1">
                <a:solidFill>
                  <a:srgbClr val="042F2E"/>
                </a:solidFill>
                <a:latin typeface="Arial"/>
              </a:defRPr>
            </a:pPr>
            <a:r>
              <a:t>🌱 AgroVoice-XAI</a:t>
            </a:r>
          </a:p>
          <a:p>
            <a:pPr algn="ctr">
              <a:defRPr sz="2000" b="1">
                <a:solidFill>
                  <a:srgbClr val="10B981"/>
                </a:solidFill>
                <a:latin typeface="Arial"/>
              </a:defRPr>
            </a:pPr>
            <a:r>
              <a:t>Smart Visual Crop Advisory &amp; Disease Severity Estimation System</a:t>
            </a:r>
          </a:p>
          <a:p>
            <a:pPr algn="ctr">
              <a:defRPr sz="1200">
                <a:solidFill>
                  <a:srgbClr val="64748B"/>
                </a:solidFill>
                <a:latin typeface="Arial"/>
              </a:defRPr>
            </a:pPr>
            <a:r>
              <a:t>Multi-Modal Deep Learning, Explainable AI (Grad-CAM), Microclimate Telemetry &amp; Vernacular Voice Prescriptions</a:t>
            </a:r>
          </a:p>
          <a:p>
            <a:br/>
            <a:pPr algn="ctr">
              <a:defRPr sz="1000">
                <a:solidFill>
                  <a:srgbClr val="CBD5E1"/>
                </a:solidFill>
              </a:defRPr>
            </a:pPr>
            <a:r>
              <a:t>━━━━━━━━━━━━━━━━━━━━━━━━━━━━━━━━━━━━━━━━━━━━━━━━━</a:t>
            </a:r>
            <a:br/>
          </a:p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Project Batch Members:</a:t>
            </a:r>
            <a:br/>
            <a:r>
              <a:t>1. Shashwat Shaurya (1MV21CS098)    2. Parth Verma (1MV21CS075)</a:t>
            </a:r>
            <a:br/>
            <a:r>
              <a:t>3. Shwetanshu (1MV21CS107)         4. Kumar Vaibhav (1MV21CS054)</a:t>
            </a:r>
          </a:p>
          <a:p>
            <a:br/>
            <a:pPr algn="ctr">
              <a:defRPr sz="1100">
                <a:solidFill>
                  <a:srgbClr val="64748B"/>
                </a:solidFill>
              </a:defRPr>
            </a:pPr>
            <a:r>
              <a:t>Under the Guidance of: Dr. Pallavi, Associate Professor</a:t>
            </a:r>
            <a:br/>
            <a:r>
              <a:t>HOD: Dr. Anitha T N  |  Principal: Dr. M N Thippeswamy</a:t>
            </a:r>
            <a:br/>
            <a:r>
              <a:t>Department of Computer Science &amp; Engineering</a:t>
            </a:r>
            <a:br/>
            <a:r>
              <a:t>Sir M. Visvesvaraya Institute of Technology, Bengaluru - 562157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I: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300" b="1">
                <a:solidFill>
                  <a:srgbClr val="042F2E"/>
                </a:solidFill>
                <a:latin typeface="Arial"/>
              </a:defRPr>
            </a:pPr>
            <a:r>
              <a:t>🌾 1. Severe Crop Losses &amp; Delayed Diagnosis: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Plant diseases wipe out 20% to 40% of global agricultural yield annually. Rural smallholder farmers lack immediate on-field access to certified plant pathologists (KVK extension officers) during the critical infection window.</a:t>
            </a:r>
            <a:br/>
          </a:p>
          <a:p>
            <a:pPr>
              <a:defRPr sz="1300" b="1">
                <a:solidFill>
                  <a:srgbClr val="042F2E"/>
                </a:solidFill>
                <a:latin typeface="Arial"/>
              </a:defRPr>
            </a:pPr>
            <a:r>
              <a:t>📦 2. The Black-Box AI Trust Deficit: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Existing computer vision apps output opaque prediction labels without visual localization, leading to farmer skepticism and misdiagnosis caused by background lighting, soil, or fingers.</a:t>
            </a:r>
            <a:br/>
          </a:p>
          <a:p>
            <a:pPr>
              <a:defRPr sz="1300" b="1">
                <a:solidFill>
                  <a:srgbClr val="042F2E"/>
                </a:solidFill>
                <a:latin typeface="Arial"/>
              </a:defRPr>
            </a:pPr>
            <a:r>
              <a:t>🌦️ 3. Meteorological Disconnection (Ignoring Field Microclimate):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Current vision models diagnose leaf symptoms in isolation, completely ignoring live atmospheric drivers (relative humidity &gt;= 75%, ambient temperature, leaf wetness) that dictate fungal spore germination.</a:t>
            </a:r>
            <a:br/>
          </a:p>
          <a:p>
            <a:pPr>
              <a:defRPr sz="1300" b="1">
                <a:solidFill>
                  <a:srgbClr val="042F2E"/>
                </a:solidFill>
                <a:latin typeface="Arial"/>
              </a:defRPr>
            </a:pPr>
            <a:r>
              <a:t>🗣️ 4. Language, Literacy &amp; Practicality Barrier: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Advice is typically generated in complex, jargon-heavy English text with zero hands-free voice consultation in regional dialects (Kannada &amp; Hindi) and no practical 15-liter backpack pump spray dosages.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II: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74320"/>
          <a:lstStyle/>
          <a:p>
            <a:pPr algn="ctr">
              <a:defRPr sz="1250" b="1">
                <a:solidFill>
                  <a:srgbClr val="042F2E"/>
                </a:solidFill>
                <a:latin typeface="Arial"/>
              </a:defRPr>
            </a:pPr>
            <a:r>
              <a:t>🎯 1. High-Accuracy Edge Deep Learning Classification: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Train and deploy a lightweight MobileNetV2 architecture capable of classifying 39 crop taxa and disease classes with &gt;98% accuracy and real-time CPU/GPU latency (&lt;30 ms).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🔬 2. Visual Explainability via Grad-CAM Saliency: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Implement Gradient-weighted Class Activation Mapping (Grad-CAM) at the final convolutional layer (features[-1]) to generate visual heatmaps pinpointing exact active necrotic lesions.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🌦️ 3. Real-Time Microclimate Risk Triangulation: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Integrate live GPS meteorological telemetry (Open-Meteo API) to compute continuous disease epidemic spread risk scores (0-100) based on humidity thresholds and leaf wetness.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🗣️ 4. Multilingual Zero-Literacy Voice Assistant: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Build an interactive Web Speech voice assistant in Kannada, Hindi, and English providing spoken 4-pillar prescriptions with standardized 15-liter backpack pump spray dosages.</a:t>
            </a:r>
            <a:br/>
          </a:p>
          <a:p>
            <a:pPr>
              <a:defRPr sz="1250" b="1">
                <a:solidFill>
                  <a:srgbClr val="042F2E"/>
                </a:solidFill>
                <a:latin typeface="Arial"/>
              </a:defRPr>
            </a:pPr>
            <a:r>
              <a:t>🖨️ 5. Instant Rural Deliverables (PDF &amp; WhatsApp):</a:t>
            </a:r>
          </a:p>
          <a:p>
            <a:pPr>
              <a:defRPr sz="1100">
                <a:solidFill>
                  <a:srgbClr val="0F172A"/>
                </a:solidFill>
                <a:latin typeface="Arial"/>
              </a:defRPr>
            </a:pPr>
            <a:r>
              <a:t>Provide 1-click printable single-page Crop Doctor Health Prescription cards and 1-tap WhatsApp sharing for local pesticide dealers and extension officers.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III(a): Literature Survey — Performance Comparison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Based on: Karim et al., "Enhancing agriculture through real-time grape leaf disease classification via an edge device with a lightweight CNN architecture and Grad-CAM," Scientific Reports, vol. 14, Art. 16022, 2024.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00200"/>
          <a:ext cx="1127729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1005840"/>
                <a:gridCol w="1005840"/>
                <a:gridCol w="822960"/>
                <a:gridCol w="822960"/>
                <a:gridCol w="1463040"/>
                <a:gridCol w="640080"/>
                <a:gridCol w="2590495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Ref.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Dataset size (images)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Plant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VGG16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62,286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Grapes &amp; Tomatoes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AlexNet, VGG-19, Inception 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AlexNet +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4,063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VGG-16 (Fine-tuned)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97.87%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17,668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Apple &amp; 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UnitedModel (GoogLeNet+ResNet)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1,619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Inception structure DICNN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97.22%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97.23%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97.25%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97.40%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107,366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EfficientNetB5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61,486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3D-CNN (Hyperspectral)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95.73%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1,090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dResNet-18 (PlantDet)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[19]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AlexNet + SGD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98.88%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7,222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III(b): Literature Survey — Performance Comparison Table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377440"/>
                <a:gridCol w="1005840"/>
                <a:gridCol w="1005840"/>
                <a:gridCol w="822960"/>
                <a:gridCol w="822960"/>
                <a:gridCol w="1463040"/>
                <a:gridCol w="640080"/>
                <a:gridCol w="2590495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Ref.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Dataset size (images)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</a:defRPr>
                      </a:pPr>
                      <a:r>
                        <a:t>Plant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[20]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AlexNet-ShuffleNetV2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4,062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[21]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MobileNetV3Small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58,807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[22]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MobileNet-Beta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54,306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Multicrop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[23]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Faster DR-IACNN (Detection)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81.10%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62,286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[24]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ECA-sNET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[25]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Custom MobileNetV3Large (Karim et al.)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99.42%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27,122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</a:defRPr>
                      </a:pPr>
                      <a:r>
                        <a:t>Grape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Ours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MobileNetV2 + Grad-CAM + Weather + Voice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98.43%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98.43%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98.43%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98.20%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54,305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042F2E"/>
                          </a:solidFill>
                        </a:defRPr>
                      </a:pPr>
                      <a:r>
                        <a:t>Multicrop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i="1">
                <a:solidFill>
                  <a:srgbClr val="64748B"/>
                </a:solidFill>
              </a:defRPr>
            </a:pPr>
            <a:r>
              <a:t>Significant values are in bold. '–' indicates metric was not reported by the authors.</a:t>
            </a:r>
            <a:br/>
            <a:r>
              <a:t>Reference paper: Karim et al. (2024), Scientific Reports, Nature. DOI: 10.1038/s41598-024-66989-9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III(c): Research Gap Analysis — How AgroVoice-XAI Fills the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763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95190"/>
                <a:gridCol w="449519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Gap Area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Existing Works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AgroVoice-XAI (Ours)</a:t>
                      </a:r>
                    </a:p>
                  </a:txBody>
                  <a:tcPr>
                    <a:solidFill>
                      <a:srgbClr val="064E3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Visual Explainability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F1239"/>
                          </a:solidFill>
                        </a:defRPr>
                      </a:pPr>
                      <a:r>
                        <a:t>Most papers lack Grad-CAM; those with it use only during testing, not real-time inference.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Real-time Grad-CAM heatmaps generated during every inference cycle.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Weather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F1239"/>
                          </a:solidFill>
                        </a:defRPr>
                      </a:pPr>
                      <a:r>
                        <a:t>Zero papers integrate live microclimate data with disease diagnosis.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Open-Meteo GPS telemetry feeds Disease Triangle risk score (0–100).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Voice &amp; 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F1239"/>
                          </a:solidFill>
                        </a:defRPr>
                      </a:pPr>
                      <a:r>
                        <a:t>All reviewed works use English-only text interfaces.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STT/TTS in Kannada, Hindi, and English via Web Speech API.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Practical Dosages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F1239"/>
                          </a:solidFill>
                        </a:defRPr>
                      </a:pPr>
                      <a:r>
                        <a:t>Mention disease names only; no actionable spray measurements.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Exact 30g per 15L backpack pump spray measurements + PHI window.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Rural Deliverables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F1239"/>
                          </a:solidFill>
                        </a:defRPr>
                      </a:pPr>
                      <a:r>
                        <a:t>No actionable output format for farmers.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1-Click PDF Health Card + 1-Tap WhatsApp Share to pesticide dealer.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Multicrop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9F1239"/>
                          </a:solidFill>
                        </a:defRPr>
                      </a:pPr>
                      <a:r>
                        <a:t>Most limited to 2–8 classes on a single crop (grape).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66534"/>
                          </a:solidFill>
                        </a:defRPr>
                      </a:pPr>
                      <a:r>
                        <a:t>39 classes across 14 crop species on 54,305 curated images.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IV: System Analysis (Existing vs Proposed)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663440"/>
          </a:xfrm>
          <a:prstGeom prst="roundRect">
            <a:avLst/>
          </a:prstGeom>
          <a:solidFill>
            <a:srgbClr val="FFF1F2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400" b="1">
                <a:solidFill>
                  <a:srgbClr val="BE123C"/>
                </a:solidFill>
              </a:defRPr>
            </a:pPr>
            <a:r>
              <a:t>❌ Existing Systems &amp; Limitations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Manual Field Scouting: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Slow, labor-intensive, error-prone, and dependent on scarce agricultural scientists.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Black-Box AI Applications: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Show single label (e.g. 'Late Blight') with zero visual explanation of which leaf spots triggered it.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Ignored Ambient Weather: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Diagnoses image without checking today's humidity (82%) or rain, failing to predict disease spread.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English-Only Text Interfaces: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Inaccessible to illiterate or vernacular-speaking rural farmers.</a:t>
            </a:r>
          </a:p>
          <a:p>
            <a:pPr>
              <a:defRPr b="1" sz="1100">
                <a:solidFill>
                  <a:srgbClr val="9F1239"/>
                </a:solidFill>
              </a:defRPr>
            </a:pPr>
            <a:r>
              <a:t>• Vague Chemical Advice: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Mentions chemical names without practical 15-liter backpack pump spray dosages.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94960" cy="466344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400" b="1">
                <a:solidFill>
                  <a:srgbClr val="15803D"/>
                </a:solidFill>
              </a:defRPr>
            </a:pPr>
            <a:r>
              <a:t>✔ Proposed System: AgroVoice-XAI</a:t>
            </a:r>
          </a:p>
          <a:p>
            <a:pPr>
              <a:defRPr b="1" sz="1100">
                <a:solidFill>
                  <a:srgbClr val="166534"/>
                </a:solidFill>
              </a:defRPr>
            </a:pPr>
            <a:r>
              <a:t>• Edge MobileNetV2 (98.43% Acc):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Lightweight inverted residual architecture classifying 39 classes in 22 ms.</a:t>
            </a:r>
          </a:p>
          <a:p>
            <a:pPr>
              <a:defRPr b="1" sz="1100">
                <a:solidFill>
                  <a:srgbClr val="166534"/>
                </a:solidFill>
              </a:defRPr>
            </a:pPr>
            <a:r>
              <a:t>• Active Grad-CAM Saliency (XAI):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Generates glowing red/yellow heatmaps over active fungal necrotic lesions.</a:t>
            </a:r>
          </a:p>
          <a:p>
            <a:pPr>
              <a:defRPr b="1" sz="1100">
                <a:solidFill>
                  <a:srgbClr val="166534"/>
                </a:solidFill>
              </a:defRPr>
            </a:pPr>
            <a:r>
              <a:t>• Live Weather Triangulation: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Open-Meteo GPS weather feeds Disease Triangle risk score (0-100).</a:t>
            </a:r>
          </a:p>
          <a:p>
            <a:pPr>
              <a:defRPr b="1" sz="1100">
                <a:solidFill>
                  <a:srgbClr val="166534"/>
                </a:solidFill>
              </a:defRPr>
            </a:pPr>
            <a:r>
              <a:t>• Zero-Literacy Vernacular Voice: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Interactive STT/TTS in Kannada, Hindi, and English with intent Q&amp;A.</a:t>
            </a:r>
          </a:p>
          <a:p>
            <a:pPr>
              <a:defRPr b="1" sz="1100">
                <a:solidFill>
                  <a:srgbClr val="166534"/>
                </a:solidFill>
              </a:defRPr>
            </a:pPr>
            <a:r>
              <a:t>• 4-Pillar Calibrated Prescriptions: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Organic remedies + exact 30g/15L pump chemical dosages + 1-click WhatsApp share.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V: Requirements Specification (Functional &amp; Non-Functional)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369A1"/>
                </a:solidFill>
              </a:defRPr>
            </a:pPr>
            <a:r>
              <a:t>📋 Functional Requirements (FR)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FR-1: Image Acquisition: Camera scanner with aspect ratio guide &amp; gallery upload.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FR-2: Deep Learning Inference: MobileNetV2 classification across 39 crop taxa.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FR-3: Explainable AI Heatmap: Grad-CAM gradient interception &amp; jet colormap blending.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FR-4: Live Meteorological Ingestion: GPS Open-Meteo telemetry (Temp, RH%, Rain, Wind).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FR-5: Vernacular Voice NLP: Web Speech API STT/TTS in Kannada, Hindi, and English.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FR-6: Digital Prescription &amp; Sharing: 1-Click PDF print card and pre-formatted WhatsApp share.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949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6D28D9"/>
                </a:solidFill>
              </a:defRPr>
            </a:pPr>
            <a:r>
              <a:t>⚙️ Non-Functional Requirements (NFR)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NFR-1: Latency &amp; Speed: Model inference &lt; 30 ms; complete pipeline response &lt; 350 ms.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NFR-2: Accuracy &amp; Reliability: Validation accuracy &gt;= 98.43% with macro F1-score of 0.982.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NFR-3: Out-of-Distribution (OOD) Safety: Confidence thresholding (&lt;60%) prevents false prescriptions.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NFR-4: Usability &amp; Zero-Literacy: High-contrast visual badges, audio playback, clean vernacular layout.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NFR-5: Scalability &amp; Modularity: Asynchronous FastAPI microservices ready for Docker containerization.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VI: System Design &amp; Multi-Tier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42F2E"/>
                </a:solidFill>
              </a:defRPr>
            </a:pPr>
            <a:r>
              <a:t>🏛️ Multi-Tier Modular System Architecture &amp; Data Flow Pipeline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1. Client Ingestion Layer (React 18 + Vite):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Handles camera alignment, GPS geolocation, and Web Speech API audio streams in Kannada/Hindi/English.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2. FastAPI ASGI Gateway (Python 3.10+):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Decodes multipart form payloads, validates image tensors (224×224×3 ImageNet normalized), and routes requests asynchronously.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3. Parallel Deep Learning &amp; Weather Engines: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• Branch A (Vision &amp; XAI): PyTorch MobileNetV2 forward pass (98.43% accuracy) + Grad-CAM backward hook at features[-1].</a:t>
            </a:r>
            <a:br/>
            <a:r>
              <a:t>• Branch B (Agro-Meteorology): Open-Meteo API retrieves field temperature, humidity, rain, and wind to compute Disease Triangle risk score (0-100).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4. 4-Pillar Agronomic Knowledge &amp; Speech NLP: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Maps disease to Cause, Organic Remedy, Chemical Spray (30g per 15L pump), and Cultural Prevention. Builds natural Indic voice synthesis text.</a:t>
            </a:r>
          </a:p>
          <a:p>
            <a:pPr>
              <a:defRPr b="1" sz="1050">
                <a:solidFill>
                  <a:srgbClr val="042F2E"/>
                </a:solidFill>
              </a:defRPr>
            </a:pPr>
            <a:r>
              <a:t>5. Actionable Presentation Layer: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Side-by-side XAI view, severity gauge, audio playback, interactive voice Q&amp;A, and 1-click PDF/WhatsApp cards.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VII: Summary, Experimental Results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228600"/>
          <a:lstStyle/>
          <a:p>
            <a:pPr algn="ctr">
              <a:defRPr sz="1300" b="1">
                <a:solidFill>
                  <a:srgbClr val="042F2E"/>
                </a:solidFill>
              </a:defRPr>
            </a:pPr>
            <a:r>
              <a:t>📊 Key Experimental Results &amp; Performance Benchmarks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High Classification Accuracy: MobileNetV2 achieved 98.43% validation accuracy and 0.982 macro F1-score across 54,305 curated images (39 classes).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Ultra-Low Latency Inference: Average CPU inference time of 22 ms (and 6 ms on RTX 4060 GPU), making the pipeline edge-deployable on low-cost rural devices.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Reliable Visual Explainability: Grad-CAM saliency heatmaps successfully localized necrotic lesion centers on 100% of tested infected leaf samples.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Live Microclimate Integration: Accurately triggered high spread risk warnings during elevated humidity (&gt;80% RH) and wet weather conditions.</a:t>
            </a:r>
            <a:br/>
          </a:p>
          <a:p>
            <a:pPr>
              <a:defRPr sz="1050">
                <a:solidFill>
                  <a:srgbClr val="0F172A"/>
                </a:solidFill>
              </a:defRPr>
            </a:pPr>
            <a:r>
              <a:t>• Practical Rural Impact: Standardized 15-liter backpack pump spray dosages and zero-literacy voice consultations in Kannada &amp; Hindi bridge the digital divide.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VIII: Publication / Conference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20040"/>
          <a:lstStyle/>
          <a:p>
            <a:pPr algn="ctr">
              <a:defRPr sz="1400" b="1">
                <a:solidFill>
                  <a:srgbClr val="042F2E"/>
                </a:solidFill>
              </a:defRPr>
            </a:pPr>
            <a:r>
              <a:t>📄 Research Paper Manuscript Details</a:t>
            </a:r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Paper Title: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AgroVoice-XAI: An Explainable Multimodal Deep Learning Framework for Crop Disease Diagnosis Augmented with Microclimatic Risk Telemetry and Vernacular Voice Assistance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Authors: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Shashwat Shaurya, Parth Verma, Shwetanshu, Kumar Vaibhav, and Dr. Pallavi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Affiliation: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Department of Computer Science &amp; Engineering, Sir M. Visvesvaraya Institute of Technology, Bengaluru, Karnataka, India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Target Conference / Journal: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IEEE International Conference on Computing, Communication and Automation (ICCCA)</a:t>
            </a:r>
            <a:br/>
            <a:r>
              <a:t>2. Springer Smart Agricultural Technology &amp; Computing Series</a:t>
            </a:r>
            <a:br/>
          </a:p>
          <a:p>
            <a:pPr>
              <a:defRPr b="1" sz="1100">
                <a:solidFill>
                  <a:srgbClr val="042F2E"/>
                </a:solidFill>
              </a:defRPr>
            </a:pPr>
            <a:r>
              <a:t>Key Contributions: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1. Multi-modal fusion of lightweight MobileNetV2 with real-time Grad-CAM explainability.</a:t>
            </a:r>
            <a:br/>
            <a:r>
              <a:t>2. Integration of live microclimatic weather risk telemetry (Open-Meteo) for disease epidemic forecasting.</a:t>
            </a:r>
            <a:br/>
            <a:r>
              <a:t>3. Zero-literacy vernacular voice consultation engine in Kannada, Hindi, and English with 15L pump dosages.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IX(a):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100" b="1">
                <a:solidFill>
                  <a:srgbClr val="042F2E"/>
                </a:solidFill>
              </a:defRPr>
            </a:pPr>
            <a:r>
              <a:t>📚 Academic References (Based on Karim et al. 2024, Nature Scientific Reports)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[9] A. S. Paymode and V. B. Malode, "Transfer learning for multi-crop leaf disease image classification using CNN VGG," Artif. Intell. Agric., vol. 6, pp. 23–33, 2022.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[10] A. Morellos et al., "Comparison of deep neural networks in detecting field grapevine diseases using transfer learning," Remote Sens., vol. 14, p. 4648, 2022.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[11] K. R. Aravind et al., "Grape crop disease classification using transfer learning approach," in Proc. ISMAC-CVB, pp. 1623–1633, 2019.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[12] Y. Nagaraju et al., "Apple and grape leaf diseases classification using transfer learning via fine-tuned classifier," in Proc. IEEE ICMLANT, 2020.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[13] M. Ji et al., "Automatic grape leaf diseases identification via UnitedModel based on multiple CNNs," Inf. Process. Agric., vol. 7, pp. 418–426, 2020.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[14] X. Xie et al., "A deep-learning-based real-time detector for grape leaf diseases using improved CNNs," Front. Plant Sci., vol. 11, 2020.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[15] B. Liu et al., "Grape leaf disease identification using improved deep convolutional neural networks," Front. Plant Sci., vol. 11, 2020.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[17] M. Saberi Anari, "A hybrid model for leaf diseases classification based on modified deep transfer learning," Comput. Intell. Neurosci., 2022.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[18] Md. S. H. Shovon et al., "PlantDet: A robust multi-model ensemble method for plant disease detection," IEEE Access, vol. 11, pp. 34846–34859, 2023.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[19] U. Sanath Rao et al., "Deep learning precision farming: grapes and mango leaf disease detection by transfer learning," Glob. Trans. Proc., vol. 2, pp. 535–544, 2021.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IX(b): References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AgroVoice-XAI · Dept. of Computer Science &amp; Engineering, Sir MVIT, Bengaluru · Major Project Phase II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82880"/>
          <a:lstStyle/>
          <a:p>
            <a:pPr algn="ctr">
              <a:defRPr sz="1100" b="1">
                <a:solidFill>
                  <a:srgbClr val="042F2E"/>
                </a:solidFill>
              </a:defRPr>
            </a:pPr>
            <a:r>
              <a:t>📚 Academic References (Continued)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[20] Z. Tang et al., "Grape disease image classification based on lightweight CNN and channelwise attention," Comput. Electron. Agric., vol. 178, p. 105735, 2020.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[21] S. Parez et al., "Towards sustainable agricultural systems: A lightweight deep learning model for plant disease detection," Comput. Syst. Sci. Eng., vol. 47, pp. 515–536, 2023.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[22] J. Chen et al., "Identifying plant diseases using deep transfer learning and enhanced lightweight network," Multimed. Tools Appl., vol. 79, pp. 31497–31515, 2020.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[23] P. Wang et al., "Fine-grained grape leaf diseases recognition method based on improved lightweight attention network," Front. Plant Sci., vol. 12, 2021.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[24] H. I. Peyal et al., "Plant disease classifier: Detection of dual-crop diseases using lightweight 2D CNN architecture," IEEE Access, vol. 11, pp. 110627–110643, 2023.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[25] M. J. Karim et al., "Enhancing agriculture through real-time grape leaf disease classification via an edge device with a lightweight CNN and Grad-CAM," Sci. Rep., vol. 14, Art. 16022, 2024.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[26] S. P. Mohanty et al., "Using deep learning for image-based plant disease detection," Front. Plant Sci., vol. 7, p. 1419, 2016.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[27] R. R. Selvaraju et al., "Grad-CAM: Visual explanations from deep networks via gradient-based localization," in Proc. IEEE ICCV, pp. 618–626, 2017.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[28] M. Sandler et al., "MobileNetV2: Inverted residuals and linear bottlenecks," in Proc. IEEE/CVF CVPR, pp. 4510–4520, 2018.</a:t>
            </a:r>
          </a:p>
          <a:p>
            <a:pPr>
              <a:defRPr sz="850">
                <a:solidFill>
                  <a:srgbClr val="0F172A"/>
                </a:solidFill>
              </a:defRPr>
            </a:pPr>
            <a:r>
              <a:t>[29] FAO, "The state of food and agriculture: Empowering farmers through technology," FAO Report, Rome, 2023.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9695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7200" lIns="365760"/>
          <a:lstStyle/>
          <a:p>
            <a:pPr algn="ctr">
              <a:defRPr sz="3600" b="1">
                <a:solidFill>
                  <a:srgbClr val="042F2E"/>
                </a:solidFill>
              </a:defRPr>
            </a:pPr>
            <a:r>
              <a:t>Thank You!</a:t>
            </a:r>
          </a:p>
          <a:p>
            <a:br/>
            <a:pPr algn="ctr">
              <a:defRPr sz="1600" b="1">
                <a:solidFill>
                  <a:srgbClr val="10B981"/>
                </a:solidFill>
              </a:defRPr>
            </a:pPr>
            <a:r>
              <a:t>🌾 AgroVoice-XAI: Smart Visual Crop Advisory</a:t>
            </a:r>
          </a:p>
          <a:p>
            <a:br/>
            <a:pPr algn="ctr">
              <a:defRPr sz="1400">
                <a:solidFill>
                  <a:srgbClr val="0F172A"/>
                </a:solidFill>
              </a:defRPr>
            </a:pPr>
            <a:r>
              <a:t>Questions &amp; Discussion</a:t>
            </a:r>
          </a:p>
          <a:p>
            <a:br/>
            <a:pPr algn="ctr">
              <a:defRPr sz="1000">
                <a:solidFill>
                  <a:srgbClr val="CBD5E1"/>
                </a:solidFill>
              </a:defRPr>
            </a:pPr>
            <a:r>
              <a:t>━━━━━━━━━━━━━━━━━━━━━━━━━━━━━━━━━━━━━━━━━━━</a:t>
            </a:r>
            <a:br/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Shashwat Shaurya · Parth Verma · Shwetanshu · Kumar Vaibhav</a:t>
            </a:r>
            <a:br/>
            <a:r>
              <a:t>Guide: Dr. Pallavi | Dept. of CSE, Sir MVIT,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